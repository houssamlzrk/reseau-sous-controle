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Réseau Sous Contrôle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Détection d'Anomalies — Comparaison de 3 Modèles ML</a:t>
            </a:r>
          </a:p>
          <a:p/>
          <a:p>
            <a:r>
              <a:t>Projet PFA — Maroc Telecom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Analyser 6629 mesures de drive-test sur 26 villes et 11 régions du Maroc</a:t>
            </a:r>
          </a:p>
          <a:p>
            <a:pPr/>
            <a:r>
              <a:t>Détecter automatiquement les anomalies réseau</a:t>
            </a:r>
          </a:p>
          <a:p>
            <a:pPr/>
            <a:r>
              <a:t>Comparer 3 approches : Unsupervised, Supervised ML, Deep Learning</a:t>
            </a:r>
          </a:p>
          <a:p>
            <a:pPr/>
            <a:r>
              <a:t>Identifier les zones à surveiller en priorité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6629 mesures de benchmarks nationaux</a:t>
            </a:r>
          </a:p>
          <a:p>
            <a:pPr/>
            <a:r>
              <a:t>26 villes réparties sur 11 régions</a:t>
            </a:r>
          </a:p>
          <a:p>
            <a:pPr/>
            <a:r>
              <a:t>3 campagnes de mesure (mai, juin, juillet 2026)</a:t>
            </a:r>
          </a:p>
          <a:p>
            <a:pPr/>
            <a:r>
              <a:t>22 colonnes : signal, débits, anomalies, risques</a:t>
            </a:r>
          </a:p>
          <a:p>
            <a:pPr/>
            <a:r>
              <a:t>95.3% mesures normales, 4.7% anomalies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1 : Isolation Forest (Unsupervised)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: Détection d'anomalies SANS labels</a:t>
            </a:r>
          </a:p>
          <a:p>
            <a:pPr/>
            <a:r>
              <a:t>Architecture : 100 arbres isolants</a:t>
            </a:r>
          </a:p>
          <a:p>
            <a:pPr/>
            <a:r>
              <a:t>Accuracy : 86.7%</a:t>
            </a:r>
          </a:p>
          <a:p>
            <a:pPr/>
            <a:r>
              <a:t>Precision : 7.1% ❌ (TRÈS BAS — beaucoup de faux positifs)</a:t>
            </a:r>
          </a:p>
          <a:p>
            <a:pPr/>
            <a:r>
              <a:t>Recall : 15.0%</a:t>
            </a:r>
          </a:p>
          <a:p>
            <a:pPr/>
            <a:r>
              <a:t>Cas d'usage : Exploration de données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2 : Random Forest (Supervised) 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: Classification supervisée AVEC labels</a:t>
            </a:r>
          </a:p>
          <a:p>
            <a:pPr/>
            <a:r>
              <a:t>Architecture : 100 arbres de décision</a:t>
            </a:r>
          </a:p>
          <a:p>
            <a:pPr/>
            <a:r>
              <a:t>Accuracy : 95.5%</a:t>
            </a:r>
          </a:p>
          <a:p>
            <a:pPr/>
            <a:r>
              <a:t>Precision : 100.0% ✅ (PARFAIT — zéro faux positif)</a:t>
            </a:r>
          </a:p>
          <a:p>
            <a:pPr/>
            <a:r>
              <a:t>Recall : 4.8%</a:t>
            </a:r>
          </a:p>
          <a:p>
            <a:pPr/>
            <a:r>
              <a:t>ROC-AUC : 0.9006</a:t>
            </a:r>
          </a:p>
          <a:p>
            <a:pPr/>
            <a:r>
              <a:t>Cas d'usage : PRODUCTION (fiabilité maximale)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Modèle 3 : Neural Network (Deep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: Réseau de neurones feedforward</a:t>
            </a:r>
          </a:p>
          <a:p>
            <a:pPr/>
            <a:r>
              <a:t>Architecture : Dense(32) → Dense(16) → Dense(8) → Output</a:t>
            </a:r>
          </a:p>
          <a:p>
            <a:pPr/>
            <a:r>
              <a:t>Accuracy : 95.7%</a:t>
            </a:r>
          </a:p>
          <a:p>
            <a:pPr/>
            <a:r>
              <a:t>Precision : 75.0%</a:t>
            </a:r>
          </a:p>
          <a:p>
            <a:pPr/>
            <a:r>
              <a:t>Recall : 14.3%</a:t>
            </a:r>
          </a:p>
          <a:p>
            <a:pPr/>
            <a:r>
              <a:t>ROC-AUC : 0.8929</a:t>
            </a:r>
          </a:p>
          <a:p>
            <a:pPr/>
            <a:r>
              <a:t>Cas d'usage : Apprentissage de patterns complexes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Comparaison des 3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GAGNE : Precision 100% vs 7.1% (IF) vs 75% (NN)</a:t>
            </a:r>
          </a:p>
          <a:p>
            <a:pPr/>
            <a:r>
              <a:t>IF : Utile pour exploration SANS labels</a:t>
            </a:r>
          </a:p>
          <a:p>
            <a:pPr/>
            <a:r>
              <a:t>RF : Meilleur pour production (100% confiance)</a:t>
            </a:r>
          </a:p>
          <a:p>
            <a:pPr/>
            <a:r>
              <a:t>NN : Peut capturer des patterns non-linéaires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Recommandations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Utiliser Random Forest en production</a:t>
            </a:r>
          </a:p>
          <a:p>
            <a:pPr lvl="1"/>
            <a:r>
              <a:t>Precision 100% → zéro faux positif</a:t>
            </a:r>
          </a:p>
          <a:p>
            <a:pPr lvl="1"/>
            <a:r>
              <a:t>Rapide et interprétable</a:t>
            </a:r>
          </a:p>
          <a:p>
            <a:pPr/>
            <a:r>
              <a:t>✅ Isolation Forest pour exploration initiale</a:t>
            </a:r>
          </a:p>
          <a:p>
            <a:pPr lvl="1"/>
            <a:r>
              <a:t>Pas besoin de labels</a:t>
            </a:r>
          </a:p>
          <a:p>
            <a:pPr/>
            <a:r>
              <a:t>✅ Neural Network pour cas complexes</a:t>
            </a:r>
          </a:p>
          <a:p>
            <a:pPr lvl="1"/>
            <a:r>
              <a:t>À investiguer sur d'autres datasets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Clés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6629 mesures analysées</a:t>
            </a:r>
          </a:p>
          <a:p>
            <a:pPr/>
            <a:r>
              <a:t>26 villes couvertes, 11 régions mappées</a:t>
            </a:r>
          </a:p>
          <a:p>
            <a:pPr/>
            <a:r>
              <a:t>3 modèles ML comparés</a:t>
            </a:r>
          </a:p>
          <a:p>
            <a:pPr/>
            <a:r>
              <a:t>100% Precision (Random Forest)</a:t>
            </a:r>
          </a:p>
          <a:p>
            <a:pPr/>
            <a:r>
              <a:t>95.5% Accuracy (Random Forest)</a:t>
            </a:r>
          </a:p>
          <a:p>
            <a:pPr/>
            <a:r>
              <a:t>19 vues SQL créées</a:t>
            </a:r>
          </a:p>
          <a:p>
            <a:pPr/>
            <a:r>
              <a:t>4 pages Power BI interactives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complet et opérationnel</a:t>
            </a:r>
          </a:p>
          <a:p>
            <a:pPr/>
            <a:r>
              <a:t>De la donnée brute → Dashboard → Modèles ML</a:t>
            </a:r>
          </a:p>
          <a:p>
            <a:pPr/>
            <a:r>
              <a:t>Random Forest validé pour production</a:t>
            </a:r>
          </a:p>
          <a:p>
            <a:pPr/>
            <a:r>
              <a:t>Prêt pour déploiement chez Maroc Telecom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